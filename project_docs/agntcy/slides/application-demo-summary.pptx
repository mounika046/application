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EFED"/>
        </a:solidFill>
        <a:effectLst/>
      </p:bgPr>
    </p:bg>
    <p:spTree>
      <p:nvGrpSpPr>
        <p:cNvPr id="1" name=""/>
        <p:cNvGrpSpPr/>
        <p:nvPr/>
      </p:nvGrpSpPr>
      <p:grpSpPr/>
      <p:sp>
        <p:nvSpPr>
          <p:cNvPr id="2" name="TextBox 1"/>
          <p:cNvSpPr txBox="1"/>
          <p:nvPr/>
        </p:nvSpPr>
        <p:spPr>
          <a:xfrm>
            <a:off x="457200" y="228600"/>
            <a:ext cx="11064240" cy="457200"/>
          </a:xfrm>
          <a:prstGeom prst="rect">
            <a:avLst/>
          </a:prstGeom>
          <a:noFill/>
        </p:spPr>
        <p:txBody>
          <a:bodyPr wrap="none">
            <a:spAutoFit/>
          </a:bodyPr>
          <a:lstStyle/>
          <a:p>
            <a:r>
              <a:rPr sz="2400" b="1">
                <a:solidFill>
                  <a:srgbClr val="3C4545"/>
                </a:solidFill>
                <a:latin typeface="Segoe UI"/>
              </a:rPr>
              <a:t>Multi-Agent Enterprise AI Learning Implementation</a:t>
            </a:r>
          </a:p>
        </p:txBody>
      </p:sp>
      <p:sp>
        <p:nvSpPr>
          <p:cNvPr id="3" name="TextBox 2"/>
          <p:cNvSpPr txBox="1"/>
          <p:nvPr/>
        </p:nvSpPr>
        <p:spPr>
          <a:xfrm>
            <a:off x="457200" y="566928"/>
            <a:ext cx="11064240" cy="292608"/>
          </a:xfrm>
          <a:prstGeom prst="rect">
            <a:avLst/>
          </a:prstGeom>
          <a:noFill/>
        </p:spPr>
        <p:txBody>
          <a:bodyPr wrap="none">
            <a:spAutoFit/>
          </a:bodyPr>
          <a:lstStyle/>
          <a:p>
            <a:r>
              <a:rPr sz="1150">
                <a:solidFill>
                  <a:srgbClr val="697778"/>
                </a:solidFill>
                <a:latin typeface="Segoe UI"/>
              </a:rPr>
              <a:t>Learning implementation demonstrating multi-agent orchestration, trusted agent selection, and OCI-based document and web workflows.</a:t>
            </a:r>
          </a:p>
        </p:txBody>
      </p:sp>
      <p:sp>
        <p:nvSpPr>
          <p:cNvPr id="4" name="Rounded Rectangle 3"/>
          <p:cNvSpPr/>
          <p:nvPr/>
        </p:nvSpPr>
        <p:spPr>
          <a:xfrm>
            <a:off x="411480" y="1024128"/>
            <a:ext cx="11338560" cy="5394960"/>
          </a:xfrm>
          <a:prstGeom prst="roundRect">
            <a:avLst>
              <a:gd name="adj" fmla="val 8000"/>
            </a:avLst>
          </a:prstGeom>
          <a:solidFill>
            <a:srgbClr val="FFFFFF"/>
          </a:solidFill>
          <a:ln w="15240">
            <a:solidFill>
              <a:srgbClr val="C2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069848"/>
            <a:ext cx="11045952" cy="201168"/>
          </a:xfrm>
          <a:prstGeom prst="rect">
            <a:avLst/>
          </a:prstGeom>
          <a:noFill/>
        </p:spPr>
        <p:txBody>
          <a:bodyPr wrap="none">
            <a:spAutoFit/>
          </a:bodyPr>
          <a:lstStyle/>
          <a:p>
            <a:r>
              <a:rPr sz="1400" b="1">
                <a:solidFill>
                  <a:srgbClr val="3C4545"/>
                </a:solidFill>
                <a:latin typeface="Segoe UI"/>
              </a:rPr>
              <a:t>Project overview</a:t>
            </a:r>
          </a:p>
        </p:txBody>
      </p:sp>
      <p:sp>
        <p:nvSpPr>
          <p:cNvPr id="6" name="Rounded Rectangle 5"/>
          <p:cNvSpPr/>
          <p:nvPr/>
        </p:nvSpPr>
        <p:spPr>
          <a:xfrm>
            <a:off x="731520" y="1508760"/>
            <a:ext cx="3520440" cy="132588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Objective</a:t>
            </a:r>
          </a:p>
          <a:p>
            <a:pPr algn="l"/>
            <a:r>
              <a:rPr sz="1050">
                <a:solidFill>
                  <a:srgbClr val="697778"/>
                </a:solidFill>
                <a:latin typeface="Segoe UI"/>
              </a:rPr>
              <a:t>Build a working multi-agent application to understand how discovery, trust, enterprise AI services, and task-specific agents can work together in one runtime.</a:t>
            </a:r>
          </a:p>
        </p:txBody>
      </p:sp>
      <p:sp>
        <p:nvSpPr>
          <p:cNvPr id="7" name="Rectangle 6"/>
          <p:cNvSpPr/>
          <p:nvPr/>
        </p:nvSpPr>
        <p:spPr>
          <a:xfrm>
            <a:off x="731520" y="1508760"/>
            <a:ext cx="73152" cy="1325880"/>
          </a:xfrm>
          <a:prstGeom prst="rect">
            <a:avLst/>
          </a:prstGeom>
          <a:solidFill>
            <a:srgbClr val="C74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80560" y="1508760"/>
            <a:ext cx="3520440" cy="132588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What was implemented</a:t>
            </a:r>
          </a:p>
          <a:p>
            <a:pPr algn="l"/>
            <a:r>
              <a:rPr sz="1050">
                <a:solidFill>
                  <a:srgbClr val="697778"/>
                </a:solidFill>
                <a:latin typeface="Segoe UI"/>
              </a:rPr>
              <a:t>A routed application with document processing, document question answering, live web lookup, and document comparison capabilities.</a:t>
            </a:r>
          </a:p>
        </p:txBody>
      </p:sp>
      <p:sp>
        <p:nvSpPr>
          <p:cNvPr id="9" name="Rounded Rectangle 8"/>
          <p:cNvSpPr/>
          <p:nvPr/>
        </p:nvSpPr>
        <p:spPr>
          <a:xfrm>
            <a:off x="8229600" y="1508760"/>
            <a:ext cx="2606040" cy="132588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Current state</a:t>
            </a:r>
          </a:p>
          <a:p>
            <a:pPr algn="l"/>
            <a:r>
              <a:rPr sz="1050">
                <a:solidFill>
                  <a:srgbClr val="697778"/>
                </a:solidFill>
                <a:latin typeface="Segoe UI"/>
              </a:rPr>
              <a:t>A functioning prototype built for technical learning and demonstration.</a:t>
            </a:r>
          </a:p>
        </p:txBody>
      </p:sp>
      <p:sp>
        <p:nvSpPr>
          <p:cNvPr id="10" name="Rounded Rectangle 9"/>
          <p:cNvSpPr/>
          <p:nvPr/>
        </p:nvSpPr>
        <p:spPr>
          <a:xfrm>
            <a:off x="731520" y="3154680"/>
            <a:ext cx="4800600" cy="228600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What the application can do today</a:t>
            </a:r>
          </a:p>
          <a:p>
            <a:pPr algn="l"/>
            <a:r>
              <a:rPr sz="1050">
                <a:solidFill>
                  <a:srgbClr val="697778"/>
                </a:solidFill>
                <a:latin typeface="Segoe UI"/>
              </a:rPr>
              <a:t>1. Read and process documents
2. Answer questions from document content
3. Search the web for live information
4. Compare two documents and return structured differences</a:t>
            </a:r>
          </a:p>
        </p:txBody>
      </p:sp>
      <p:sp>
        <p:nvSpPr>
          <p:cNvPr id="11" name="Rounded Rectangle 10"/>
          <p:cNvSpPr/>
          <p:nvPr/>
        </p:nvSpPr>
        <p:spPr>
          <a:xfrm>
            <a:off x="5760720" y="3154680"/>
            <a:ext cx="5074920" cy="228600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How the application is structured</a:t>
            </a:r>
          </a:p>
          <a:p>
            <a:pPr algn="l"/>
            <a:r>
              <a:rPr sz="1050">
                <a:solidFill>
                  <a:srgbClr val="697778"/>
                </a:solidFill>
                <a:latin typeface="Segoe UI"/>
              </a:rPr>
              <a:t>The application uses a shared orchestration flow to route requests, discover the right agent, verify that agent, and then execute the matching document, web, or comparison path using OCI-backed services.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EFED"/>
        </a:solidFill>
        <a:effectLst/>
      </p:bgPr>
    </p:bg>
    <p:spTree>
      <p:nvGrpSpPr>
        <p:cNvPr id="1" name=""/>
        <p:cNvGrpSpPr/>
        <p:nvPr/>
      </p:nvGrpSpPr>
      <p:grpSpPr/>
      <p:sp>
        <p:nvSpPr>
          <p:cNvPr id="2" name="TextBox 1"/>
          <p:cNvSpPr txBox="1"/>
          <p:nvPr/>
        </p:nvSpPr>
        <p:spPr>
          <a:xfrm>
            <a:off x="457200" y="228600"/>
            <a:ext cx="11064240" cy="457200"/>
          </a:xfrm>
          <a:prstGeom prst="rect">
            <a:avLst/>
          </a:prstGeom>
          <a:noFill/>
        </p:spPr>
        <p:txBody>
          <a:bodyPr wrap="none">
            <a:spAutoFit/>
          </a:bodyPr>
          <a:lstStyle/>
          <a:p>
            <a:r>
              <a:rPr sz="2400" b="1">
                <a:solidFill>
                  <a:srgbClr val="3C4545"/>
                </a:solidFill>
                <a:latin typeface="Segoe UI"/>
              </a:rPr>
              <a:t>Current Application Scope</a:t>
            </a:r>
          </a:p>
        </p:txBody>
      </p:sp>
      <p:sp>
        <p:nvSpPr>
          <p:cNvPr id="3" name="TextBox 2"/>
          <p:cNvSpPr txBox="1"/>
          <p:nvPr/>
        </p:nvSpPr>
        <p:spPr>
          <a:xfrm>
            <a:off x="457200" y="566928"/>
            <a:ext cx="11064240" cy="292608"/>
          </a:xfrm>
          <a:prstGeom prst="rect">
            <a:avLst/>
          </a:prstGeom>
          <a:noFill/>
        </p:spPr>
        <p:txBody>
          <a:bodyPr wrap="none">
            <a:spAutoFit/>
          </a:bodyPr>
          <a:lstStyle/>
          <a:p>
            <a:r>
              <a:rPr sz="1150">
                <a:solidFill>
                  <a:srgbClr val="697778"/>
                </a:solidFill>
                <a:latin typeface="Segoe UI"/>
              </a:rPr>
              <a:t>The system supports four main workflows through a shared orchestration layer.</a:t>
            </a:r>
          </a:p>
        </p:txBody>
      </p:sp>
      <p:sp>
        <p:nvSpPr>
          <p:cNvPr id="4" name="Rounded Rectangle 3"/>
          <p:cNvSpPr/>
          <p:nvPr/>
        </p:nvSpPr>
        <p:spPr>
          <a:xfrm>
            <a:off x="411480" y="1051560"/>
            <a:ext cx="11338560" cy="5303520"/>
          </a:xfrm>
          <a:prstGeom prst="roundRect">
            <a:avLst>
              <a:gd name="adj" fmla="val 8000"/>
            </a:avLst>
          </a:prstGeom>
          <a:solidFill>
            <a:srgbClr val="FFFFFF"/>
          </a:solidFill>
          <a:ln w="15240">
            <a:solidFill>
              <a:srgbClr val="C2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097280"/>
            <a:ext cx="11045952" cy="201168"/>
          </a:xfrm>
          <a:prstGeom prst="rect">
            <a:avLst/>
          </a:prstGeom>
          <a:noFill/>
        </p:spPr>
        <p:txBody>
          <a:bodyPr wrap="none">
            <a:spAutoFit/>
          </a:bodyPr>
          <a:lstStyle/>
          <a:p>
            <a:r>
              <a:rPr sz="1400" b="1">
                <a:solidFill>
                  <a:srgbClr val="3C4545"/>
                </a:solidFill>
                <a:latin typeface="Segoe UI"/>
              </a:rPr>
              <a:t>Supported workflows</a:t>
            </a:r>
          </a:p>
        </p:txBody>
      </p:sp>
      <p:sp>
        <p:nvSpPr>
          <p:cNvPr id="6" name="Rounded Rectangle 5"/>
          <p:cNvSpPr/>
          <p:nvPr/>
        </p:nvSpPr>
        <p:spPr>
          <a:xfrm>
            <a:off x="731520" y="1554480"/>
            <a:ext cx="2697480" cy="196596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Document OCR</a:t>
            </a:r>
          </a:p>
          <a:p>
            <a:pPr algn="l"/>
            <a:r>
              <a:rPr sz="1050">
                <a:solidFill>
                  <a:srgbClr val="697778"/>
                </a:solidFill>
                <a:latin typeface="Segoe UI"/>
              </a:rPr>
              <a:t>A document can be provided to the application and the text is extracted for downstream use.</a:t>
            </a:r>
          </a:p>
        </p:txBody>
      </p:sp>
      <p:sp>
        <p:nvSpPr>
          <p:cNvPr id="7" name="Rectangle 6"/>
          <p:cNvSpPr/>
          <p:nvPr/>
        </p:nvSpPr>
        <p:spPr>
          <a:xfrm>
            <a:off x="731520" y="1554480"/>
            <a:ext cx="73152" cy="1965960"/>
          </a:xfrm>
          <a:prstGeom prst="rect">
            <a:avLst/>
          </a:prstGeom>
          <a:solidFill>
            <a:srgbClr val="C74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57600" y="1554480"/>
            <a:ext cx="2697480" cy="196596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Document Question Answering</a:t>
            </a:r>
          </a:p>
          <a:p>
            <a:pPr algn="l"/>
            <a:r>
              <a:rPr sz="1050">
                <a:solidFill>
                  <a:srgbClr val="697778"/>
                </a:solidFill>
                <a:latin typeface="Segoe UI"/>
              </a:rPr>
              <a:t>A user can ask questions against a document and receive grounded answers from stored document content.</a:t>
            </a:r>
          </a:p>
        </p:txBody>
      </p:sp>
      <p:sp>
        <p:nvSpPr>
          <p:cNvPr id="9" name="Rounded Rectangle 8"/>
          <p:cNvSpPr/>
          <p:nvPr/>
        </p:nvSpPr>
        <p:spPr>
          <a:xfrm>
            <a:off x="6583680" y="1554480"/>
            <a:ext cx="2697480" cy="196596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Live Web Lookup</a:t>
            </a:r>
          </a:p>
          <a:p>
            <a:pPr algn="l"/>
            <a:r>
              <a:rPr sz="1050">
                <a:solidFill>
                  <a:srgbClr val="697778"/>
                </a:solidFill>
                <a:latin typeface="Segoe UI"/>
              </a:rPr>
              <a:t>The application can invoke a web-search path when the request requires live external information.</a:t>
            </a:r>
          </a:p>
        </p:txBody>
      </p:sp>
      <p:sp>
        <p:nvSpPr>
          <p:cNvPr id="10" name="Rounded Rectangle 9"/>
          <p:cNvSpPr/>
          <p:nvPr/>
        </p:nvSpPr>
        <p:spPr>
          <a:xfrm>
            <a:off x="9509760" y="1554480"/>
            <a:ext cx="1691640" cy="196596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Document Comparison</a:t>
            </a:r>
          </a:p>
          <a:p>
            <a:pPr algn="l"/>
            <a:r>
              <a:rPr sz="1050">
                <a:solidFill>
                  <a:srgbClr val="697778"/>
                </a:solidFill>
                <a:latin typeface="Segoe UI"/>
              </a:rPr>
              <a:t>Two documents can be compared and returned as a structured summary of differences.</a:t>
            </a:r>
          </a:p>
        </p:txBody>
      </p:sp>
      <p:sp>
        <p:nvSpPr>
          <p:cNvPr id="11" name="Rounded Rectangle 10"/>
          <p:cNvSpPr/>
          <p:nvPr/>
        </p:nvSpPr>
        <p:spPr>
          <a:xfrm>
            <a:off x="868680" y="3977639"/>
            <a:ext cx="5074920" cy="141732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What is happening technically</a:t>
            </a:r>
          </a:p>
          <a:p>
            <a:pPr algn="l"/>
            <a:r>
              <a:rPr sz="1050">
                <a:solidFill>
                  <a:srgbClr val="697778"/>
                </a:solidFill>
                <a:latin typeface="Segoe UI"/>
              </a:rPr>
              <a:t>Documents go through OCR and retrieval, web questions go through the tool-based web path, and comparison requests go through the document-compare path. All of them run through the same orchestration model.</a:t>
            </a:r>
          </a:p>
        </p:txBody>
      </p:sp>
      <p:sp>
        <p:nvSpPr>
          <p:cNvPr id="12" name="Rounded Rectangle 11"/>
          <p:cNvSpPr/>
          <p:nvPr/>
        </p:nvSpPr>
        <p:spPr>
          <a:xfrm>
            <a:off x="6172200" y="3977639"/>
            <a:ext cx="4709160" cy="141732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What this demonstrates</a:t>
            </a:r>
          </a:p>
          <a:p>
            <a:pPr algn="l"/>
            <a:r>
              <a:rPr sz="1050">
                <a:solidFill>
                  <a:srgbClr val="697778"/>
                </a:solidFill>
                <a:latin typeface="Segoe UI"/>
              </a:rPr>
              <a:t>The current application already shows routed execution, trusted agent invocation, OCI-based processing, and structured user-facing outputs in one connected system.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EFED"/>
        </a:solidFill>
        <a:effectLst/>
      </p:bgPr>
    </p:bg>
    <p:spTree>
      <p:nvGrpSpPr>
        <p:cNvPr id="1" name=""/>
        <p:cNvGrpSpPr/>
        <p:nvPr/>
      </p:nvGrpSpPr>
      <p:grpSpPr/>
      <p:sp>
        <p:nvSpPr>
          <p:cNvPr id="2" name="TextBox 1"/>
          <p:cNvSpPr txBox="1"/>
          <p:nvPr/>
        </p:nvSpPr>
        <p:spPr>
          <a:xfrm>
            <a:off x="457200" y="228600"/>
            <a:ext cx="11064240" cy="457200"/>
          </a:xfrm>
          <a:prstGeom prst="rect">
            <a:avLst/>
          </a:prstGeom>
          <a:noFill/>
        </p:spPr>
        <p:txBody>
          <a:bodyPr wrap="none">
            <a:spAutoFit/>
          </a:bodyPr>
          <a:lstStyle/>
          <a:p>
            <a:r>
              <a:rPr sz="2400" b="1">
                <a:solidFill>
                  <a:srgbClr val="3C4545"/>
                </a:solidFill>
                <a:latin typeface="Segoe UI"/>
              </a:rPr>
              <a:t>How The Application Works</a:t>
            </a:r>
          </a:p>
        </p:txBody>
      </p:sp>
      <p:sp>
        <p:nvSpPr>
          <p:cNvPr id="3" name="TextBox 2"/>
          <p:cNvSpPr txBox="1"/>
          <p:nvPr/>
        </p:nvSpPr>
        <p:spPr>
          <a:xfrm>
            <a:off x="457200" y="566928"/>
            <a:ext cx="11064240" cy="292608"/>
          </a:xfrm>
          <a:prstGeom prst="rect">
            <a:avLst/>
          </a:prstGeom>
          <a:noFill/>
        </p:spPr>
        <p:txBody>
          <a:bodyPr wrap="none">
            <a:spAutoFit/>
          </a:bodyPr>
          <a:lstStyle/>
          <a:p>
            <a:r>
              <a:rPr sz="1150">
                <a:solidFill>
                  <a:srgbClr val="697778"/>
                </a:solidFill>
                <a:latin typeface="Segoe UI"/>
              </a:rPr>
              <a:t>Each request follows the same operating pattern, with a different agent path depending on the request type.</a:t>
            </a:r>
          </a:p>
        </p:txBody>
      </p:sp>
      <p:sp>
        <p:nvSpPr>
          <p:cNvPr id="4" name="Rounded Rectangle 3"/>
          <p:cNvSpPr/>
          <p:nvPr/>
        </p:nvSpPr>
        <p:spPr>
          <a:xfrm>
            <a:off x="411480" y="1051560"/>
            <a:ext cx="11338560" cy="1691640"/>
          </a:xfrm>
          <a:prstGeom prst="roundRect">
            <a:avLst>
              <a:gd name="adj" fmla="val 8000"/>
            </a:avLst>
          </a:prstGeom>
          <a:solidFill>
            <a:srgbClr val="FFFFFF"/>
          </a:solidFill>
          <a:ln w="15240">
            <a:solidFill>
              <a:srgbClr val="C2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097280"/>
            <a:ext cx="11045952" cy="201168"/>
          </a:xfrm>
          <a:prstGeom prst="rect">
            <a:avLst/>
          </a:prstGeom>
          <a:noFill/>
        </p:spPr>
        <p:txBody>
          <a:bodyPr wrap="none">
            <a:spAutoFit/>
          </a:bodyPr>
          <a:lstStyle/>
          <a:p>
            <a:r>
              <a:rPr sz="1400" b="1">
                <a:solidFill>
                  <a:srgbClr val="3C4545"/>
                </a:solidFill>
                <a:latin typeface="Segoe UI"/>
              </a:rPr>
              <a:t>Common processing pattern</a:t>
            </a:r>
          </a:p>
        </p:txBody>
      </p:sp>
      <p:sp>
        <p:nvSpPr>
          <p:cNvPr id="6" name="Rounded Rectangle 5"/>
          <p:cNvSpPr/>
          <p:nvPr/>
        </p:nvSpPr>
        <p:spPr>
          <a:xfrm>
            <a:off x="731520" y="1737360"/>
            <a:ext cx="1645920" cy="64008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Request</a:t>
            </a:r>
          </a:p>
          <a:p>
            <a:pPr algn="l"/>
            <a:r>
              <a:rPr sz="1050">
                <a:solidFill>
                  <a:srgbClr val="697778"/>
                </a:solidFill>
                <a:latin typeface="Segoe UI"/>
              </a:rPr>
              <a:t>User submits a request.</a:t>
            </a:r>
          </a:p>
        </p:txBody>
      </p:sp>
      <p:sp>
        <p:nvSpPr>
          <p:cNvPr id="7" name="Rectangle 6"/>
          <p:cNvSpPr/>
          <p:nvPr/>
        </p:nvSpPr>
        <p:spPr>
          <a:xfrm>
            <a:off x="731520" y="1737360"/>
            <a:ext cx="73152" cy="640080"/>
          </a:xfrm>
          <a:prstGeom prst="rect">
            <a:avLst/>
          </a:prstGeom>
          <a:solidFill>
            <a:srgbClr val="C74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697480" y="1737360"/>
            <a:ext cx="1737360" cy="64008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Routing</a:t>
            </a:r>
          </a:p>
          <a:p>
            <a:pPr algn="l"/>
            <a:r>
              <a:rPr sz="1050">
                <a:solidFill>
                  <a:srgbClr val="697778"/>
                </a:solidFill>
                <a:latin typeface="Segoe UI"/>
              </a:rPr>
              <a:t>The application identifies the correct path.</a:t>
            </a:r>
          </a:p>
        </p:txBody>
      </p:sp>
      <p:sp>
        <p:nvSpPr>
          <p:cNvPr id="9" name="Rounded Rectangle 8"/>
          <p:cNvSpPr/>
          <p:nvPr/>
        </p:nvSpPr>
        <p:spPr>
          <a:xfrm>
            <a:off x="4754880" y="1737360"/>
            <a:ext cx="1828800" cy="64008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Discovery</a:t>
            </a:r>
          </a:p>
          <a:p>
            <a:pPr algn="l"/>
            <a:r>
              <a:rPr sz="1050">
                <a:solidFill>
                  <a:srgbClr val="697778"/>
                </a:solidFill>
                <a:latin typeface="Segoe UI"/>
              </a:rPr>
              <a:t>The matching agent is found.</a:t>
            </a:r>
          </a:p>
        </p:txBody>
      </p:sp>
      <p:sp>
        <p:nvSpPr>
          <p:cNvPr id="10" name="Rounded Rectangle 9"/>
          <p:cNvSpPr/>
          <p:nvPr/>
        </p:nvSpPr>
        <p:spPr>
          <a:xfrm>
            <a:off x="6903720" y="1737360"/>
            <a:ext cx="1828800" cy="64008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Verification</a:t>
            </a:r>
          </a:p>
          <a:p>
            <a:pPr algn="l"/>
            <a:r>
              <a:rPr sz="1050">
                <a:solidFill>
                  <a:srgbClr val="697778"/>
                </a:solidFill>
                <a:latin typeface="Segoe UI"/>
              </a:rPr>
              <a:t>Agent trust is checked.</a:t>
            </a:r>
          </a:p>
        </p:txBody>
      </p:sp>
      <p:sp>
        <p:nvSpPr>
          <p:cNvPr id="11" name="Rounded Rectangle 10"/>
          <p:cNvSpPr/>
          <p:nvPr/>
        </p:nvSpPr>
        <p:spPr>
          <a:xfrm>
            <a:off x="9052560" y="1737360"/>
            <a:ext cx="1737360" cy="64008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Execution</a:t>
            </a:r>
          </a:p>
          <a:p>
            <a:pPr algn="l"/>
            <a:r>
              <a:rPr sz="1050">
                <a:solidFill>
                  <a:srgbClr val="697778"/>
                </a:solidFill>
                <a:latin typeface="Segoe UI"/>
              </a:rPr>
              <a:t>The selected agent runs.</a:t>
            </a:r>
          </a:p>
        </p:txBody>
      </p:sp>
      <p:cxnSp>
        <p:nvCxnSpPr>
          <p:cNvPr id="12" name="Connector 11"/>
          <p:cNvCxnSpPr/>
          <p:nvPr/>
        </p:nvCxnSpPr>
        <p:spPr>
          <a:xfrm>
            <a:off x="2377440" y="2057400"/>
            <a:ext cx="320040" cy="0"/>
          </a:xfrm>
          <a:prstGeom prst="line">
            <a:avLst/>
          </a:prstGeom>
          <a:ln w="22860">
            <a:solidFill>
              <a:srgbClr val="C7463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434840" y="2057400"/>
            <a:ext cx="320040" cy="0"/>
          </a:xfrm>
          <a:prstGeom prst="line">
            <a:avLst/>
          </a:prstGeom>
          <a:ln w="22860">
            <a:solidFill>
              <a:srgbClr val="C7463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83680" y="2057400"/>
            <a:ext cx="320040" cy="0"/>
          </a:xfrm>
          <a:prstGeom prst="line">
            <a:avLst/>
          </a:prstGeom>
          <a:ln w="22860">
            <a:solidFill>
              <a:srgbClr val="C7463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32520" y="2057400"/>
            <a:ext cx="320040" cy="0"/>
          </a:xfrm>
          <a:prstGeom prst="line">
            <a:avLst/>
          </a:prstGeom>
          <a:ln w="22860">
            <a:solidFill>
              <a:srgbClr val="C74634"/>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11480" y="3063240"/>
            <a:ext cx="11338560" cy="3246120"/>
          </a:xfrm>
          <a:prstGeom prst="roundRect">
            <a:avLst>
              <a:gd name="adj" fmla="val 8000"/>
            </a:avLst>
          </a:prstGeom>
          <a:solidFill>
            <a:srgbClr val="FFFFFF"/>
          </a:solidFill>
          <a:ln w="15240">
            <a:solidFill>
              <a:srgbClr val="C2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 y="3108960"/>
            <a:ext cx="11045952" cy="201168"/>
          </a:xfrm>
          <a:prstGeom prst="rect">
            <a:avLst/>
          </a:prstGeom>
          <a:noFill/>
        </p:spPr>
        <p:txBody>
          <a:bodyPr wrap="none">
            <a:spAutoFit/>
          </a:bodyPr>
          <a:lstStyle/>
          <a:p>
            <a:r>
              <a:rPr sz="1400" b="1">
                <a:solidFill>
                  <a:srgbClr val="3C4545"/>
                </a:solidFill>
                <a:latin typeface="Segoe UI"/>
              </a:rPr>
              <a:t>Examples of the routed paths</a:t>
            </a:r>
          </a:p>
        </p:txBody>
      </p:sp>
      <p:sp>
        <p:nvSpPr>
          <p:cNvPr id="18" name="Rounded Rectangle 17"/>
          <p:cNvSpPr/>
          <p:nvPr/>
        </p:nvSpPr>
        <p:spPr>
          <a:xfrm>
            <a:off x="731520" y="3611880"/>
            <a:ext cx="3429000" cy="224028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Document path</a:t>
            </a:r>
          </a:p>
          <a:p>
            <a:pPr algn="l"/>
            <a:r>
              <a:rPr sz="1050">
                <a:solidFill>
                  <a:srgbClr val="697778"/>
                </a:solidFill>
                <a:latin typeface="Segoe UI"/>
              </a:rPr>
              <a:t>The application reads the document, stores the content in the vector-store-backed retrieval flow, and answers questions from the relevant stored sections.</a:t>
            </a:r>
          </a:p>
        </p:txBody>
      </p:sp>
      <p:sp>
        <p:nvSpPr>
          <p:cNvPr id="19" name="Rounded Rectangle 18"/>
          <p:cNvSpPr/>
          <p:nvPr/>
        </p:nvSpPr>
        <p:spPr>
          <a:xfrm>
            <a:off x="4389120" y="3611880"/>
            <a:ext cx="3429000" cy="224028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Web path</a:t>
            </a:r>
          </a:p>
          <a:p>
            <a:pPr algn="l"/>
            <a:r>
              <a:rPr sz="1050">
                <a:solidFill>
                  <a:srgbClr val="697778"/>
                </a:solidFill>
                <a:latin typeface="Segoe UI"/>
              </a:rPr>
              <a:t>The application uses the web-search route when live external information is required and returns a grounded web result.</a:t>
            </a:r>
          </a:p>
        </p:txBody>
      </p:sp>
      <p:sp>
        <p:nvSpPr>
          <p:cNvPr id="20" name="Rounded Rectangle 19"/>
          <p:cNvSpPr/>
          <p:nvPr/>
        </p:nvSpPr>
        <p:spPr>
          <a:xfrm>
            <a:off x="8046720" y="3611880"/>
            <a:ext cx="2834640" cy="224028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Comparison path</a:t>
            </a:r>
          </a:p>
          <a:p>
            <a:pPr algn="l"/>
            <a:r>
              <a:rPr sz="1050">
                <a:solidFill>
                  <a:srgbClr val="697778"/>
                </a:solidFill>
                <a:latin typeface="Segoe UI"/>
              </a:rPr>
              <a:t>The application prepares two documents and returns a structured comparison result.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EFED"/>
        </a:solidFill>
        <a:effectLst/>
      </p:bgPr>
    </p:bg>
    <p:spTree>
      <p:nvGrpSpPr>
        <p:cNvPr id="1" name=""/>
        <p:cNvGrpSpPr/>
        <p:nvPr/>
      </p:nvGrpSpPr>
      <p:grpSpPr/>
      <p:sp>
        <p:nvSpPr>
          <p:cNvPr id="2" name="TextBox 1"/>
          <p:cNvSpPr txBox="1"/>
          <p:nvPr/>
        </p:nvSpPr>
        <p:spPr>
          <a:xfrm>
            <a:off x="457200" y="228600"/>
            <a:ext cx="11064240" cy="457200"/>
          </a:xfrm>
          <a:prstGeom prst="rect">
            <a:avLst/>
          </a:prstGeom>
          <a:noFill/>
        </p:spPr>
        <p:txBody>
          <a:bodyPr wrap="none">
            <a:spAutoFit/>
          </a:bodyPr>
          <a:lstStyle/>
          <a:p>
            <a:r>
              <a:rPr sz="2400" b="1">
                <a:solidFill>
                  <a:srgbClr val="3C4545"/>
                </a:solidFill>
                <a:latin typeface="Segoe UI"/>
              </a:rPr>
              <a:t>Implementation Journey</a:t>
            </a:r>
          </a:p>
        </p:txBody>
      </p:sp>
      <p:sp>
        <p:nvSpPr>
          <p:cNvPr id="3" name="TextBox 2"/>
          <p:cNvSpPr txBox="1"/>
          <p:nvPr/>
        </p:nvSpPr>
        <p:spPr>
          <a:xfrm>
            <a:off x="457200" y="566928"/>
            <a:ext cx="11064240" cy="292608"/>
          </a:xfrm>
          <a:prstGeom prst="rect">
            <a:avLst/>
          </a:prstGeom>
          <a:noFill/>
        </p:spPr>
        <p:txBody>
          <a:bodyPr wrap="none">
            <a:spAutoFit/>
          </a:bodyPr>
          <a:lstStyle/>
          <a:p>
            <a:r>
              <a:rPr sz="1150">
                <a:solidFill>
                  <a:srgbClr val="697778"/>
                </a:solidFill>
                <a:latin typeface="Segoe UI"/>
              </a:rPr>
              <a:t>The application was built progressively, with each major capability added into the same runtime.</a:t>
            </a:r>
          </a:p>
        </p:txBody>
      </p:sp>
      <p:sp>
        <p:nvSpPr>
          <p:cNvPr id="4" name="Rounded Rectangle 3"/>
          <p:cNvSpPr/>
          <p:nvPr/>
        </p:nvSpPr>
        <p:spPr>
          <a:xfrm>
            <a:off x="411480" y="1005840"/>
            <a:ext cx="11338560" cy="5440680"/>
          </a:xfrm>
          <a:prstGeom prst="roundRect">
            <a:avLst>
              <a:gd name="adj" fmla="val 8000"/>
            </a:avLst>
          </a:prstGeom>
          <a:solidFill>
            <a:srgbClr val="FFFFFF"/>
          </a:solidFill>
          <a:ln w="15240">
            <a:solidFill>
              <a:srgbClr val="C2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051560"/>
            <a:ext cx="11045952" cy="201168"/>
          </a:xfrm>
          <a:prstGeom prst="rect">
            <a:avLst/>
          </a:prstGeom>
          <a:noFill/>
        </p:spPr>
        <p:txBody>
          <a:bodyPr wrap="none">
            <a:spAutoFit/>
          </a:bodyPr>
          <a:lstStyle/>
          <a:p>
            <a:r>
              <a:rPr sz="1400" b="1">
                <a:solidFill>
                  <a:srgbClr val="3C4545"/>
                </a:solidFill>
                <a:latin typeface="Segoe UI"/>
              </a:rPr>
              <a:t>Build sequence followed in the project</a:t>
            </a:r>
          </a:p>
        </p:txBody>
      </p:sp>
      <p:sp>
        <p:nvSpPr>
          <p:cNvPr id="6" name="Rounded Rectangle 5"/>
          <p:cNvSpPr/>
          <p:nvPr/>
        </p:nvSpPr>
        <p:spPr>
          <a:xfrm>
            <a:off x="731520" y="1508760"/>
            <a:ext cx="2743200" cy="1024128"/>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1. Application foundation</a:t>
            </a:r>
          </a:p>
          <a:p>
            <a:pPr algn="l"/>
            <a:r>
              <a:rPr sz="1050">
                <a:solidFill>
                  <a:srgbClr val="697778"/>
                </a:solidFill>
                <a:latin typeface="Segoe UI"/>
              </a:rPr>
              <a:t>Established the multi-agent application flow and request routing model.</a:t>
            </a:r>
          </a:p>
        </p:txBody>
      </p:sp>
      <p:sp>
        <p:nvSpPr>
          <p:cNvPr id="7" name="Rectangle 6"/>
          <p:cNvSpPr/>
          <p:nvPr/>
        </p:nvSpPr>
        <p:spPr>
          <a:xfrm>
            <a:off x="731520" y="1508760"/>
            <a:ext cx="73152" cy="1024128"/>
          </a:xfrm>
          <a:prstGeom prst="rect">
            <a:avLst/>
          </a:prstGeom>
          <a:solidFill>
            <a:srgbClr val="C74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794760" y="1508760"/>
            <a:ext cx="2743200" cy="1024128"/>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2. Document workflow</a:t>
            </a:r>
          </a:p>
          <a:p>
            <a:pPr algn="l"/>
            <a:r>
              <a:rPr sz="1050">
                <a:solidFill>
                  <a:srgbClr val="697778"/>
                </a:solidFill>
                <a:latin typeface="Segoe UI"/>
              </a:rPr>
              <a:t>Added OCR and document handling so files could be processed and queried.</a:t>
            </a:r>
          </a:p>
        </p:txBody>
      </p:sp>
      <p:sp>
        <p:nvSpPr>
          <p:cNvPr id="9" name="Rounded Rectangle 8"/>
          <p:cNvSpPr/>
          <p:nvPr/>
        </p:nvSpPr>
        <p:spPr>
          <a:xfrm>
            <a:off x="6858000" y="1508760"/>
            <a:ext cx="2743200" cy="1024128"/>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3. Trusted agent runtime</a:t>
            </a:r>
          </a:p>
          <a:p>
            <a:pPr algn="l"/>
            <a:r>
              <a:rPr sz="1050">
                <a:solidFill>
                  <a:srgbClr val="697778"/>
                </a:solidFill>
                <a:latin typeface="Segoe UI"/>
              </a:rPr>
              <a:t>Integrated AGNTCY discovery and identity verification into the runtime flow.</a:t>
            </a:r>
          </a:p>
        </p:txBody>
      </p:sp>
      <p:sp>
        <p:nvSpPr>
          <p:cNvPr id="10" name="Rounded Rectangle 9"/>
          <p:cNvSpPr/>
          <p:nvPr/>
        </p:nvSpPr>
        <p:spPr>
          <a:xfrm>
            <a:off x="731520" y="2971800"/>
            <a:ext cx="2743200" cy="1024128"/>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4. Live web route</a:t>
            </a:r>
          </a:p>
          <a:p>
            <a:pPr algn="l"/>
            <a:r>
              <a:rPr sz="1050">
                <a:solidFill>
                  <a:srgbClr val="697778"/>
                </a:solidFill>
                <a:latin typeface="Segoe UI"/>
              </a:rPr>
              <a:t>Added the web-search path so the application could handle requests that need current external information.</a:t>
            </a:r>
          </a:p>
        </p:txBody>
      </p:sp>
      <p:sp>
        <p:nvSpPr>
          <p:cNvPr id="11" name="Rounded Rectangle 10"/>
          <p:cNvSpPr/>
          <p:nvPr/>
        </p:nvSpPr>
        <p:spPr>
          <a:xfrm>
            <a:off x="3794760" y="2971800"/>
            <a:ext cx="2743200" cy="1024128"/>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5. Comparison capability</a:t>
            </a:r>
          </a:p>
          <a:p>
            <a:pPr algn="l"/>
            <a:r>
              <a:rPr sz="1050">
                <a:solidFill>
                  <a:srgbClr val="697778"/>
                </a:solidFill>
                <a:latin typeface="Segoe UI"/>
              </a:rPr>
              <a:t>Added a comparison agent so the system could compare two documents.</a:t>
            </a:r>
          </a:p>
        </p:txBody>
      </p:sp>
      <p:sp>
        <p:nvSpPr>
          <p:cNvPr id="12" name="Rounded Rectangle 11"/>
          <p:cNvSpPr/>
          <p:nvPr/>
        </p:nvSpPr>
        <p:spPr>
          <a:xfrm>
            <a:off x="6858000" y="2971800"/>
            <a:ext cx="2743200" cy="1024128"/>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6. OCI enterprise AI usage</a:t>
            </a:r>
          </a:p>
          <a:p>
            <a:pPr algn="l"/>
            <a:r>
              <a:rPr sz="1050">
                <a:solidFill>
                  <a:srgbClr val="697778"/>
                </a:solidFill>
                <a:latin typeface="Segoe UI"/>
              </a:rPr>
              <a:t>Connected OCI services for reasoning, retrieval, tool use, and comparison support.</a:t>
            </a:r>
          </a:p>
        </p:txBody>
      </p:sp>
      <p:sp>
        <p:nvSpPr>
          <p:cNvPr id="13" name="Rounded Rectangle 12"/>
          <p:cNvSpPr/>
          <p:nvPr/>
        </p:nvSpPr>
        <p:spPr>
          <a:xfrm>
            <a:off x="1005840" y="4617720"/>
            <a:ext cx="9326880" cy="123444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Technical outcome of this sequence</a:t>
            </a:r>
          </a:p>
          <a:p>
            <a:pPr algn="l"/>
            <a:r>
              <a:rPr sz="1050">
                <a:solidFill>
                  <a:srgbClr val="697778"/>
                </a:solidFill>
                <a:latin typeface="Segoe UI"/>
              </a:rPr>
              <a:t>The result was one integrated runtime where document, web, and comparison requests all follow the same orchestration pattern instead of existing as separate isolated flows.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EFED"/>
        </a:solidFill>
        <a:effectLst/>
      </p:bgPr>
    </p:bg>
    <p:spTree>
      <p:nvGrpSpPr>
        <p:cNvPr id="1" name=""/>
        <p:cNvGrpSpPr/>
        <p:nvPr/>
      </p:nvGrpSpPr>
      <p:grpSpPr/>
      <p:sp>
        <p:nvSpPr>
          <p:cNvPr id="2" name="TextBox 1"/>
          <p:cNvSpPr txBox="1"/>
          <p:nvPr/>
        </p:nvSpPr>
        <p:spPr>
          <a:xfrm>
            <a:off x="457200" y="228600"/>
            <a:ext cx="11064240" cy="457200"/>
          </a:xfrm>
          <a:prstGeom prst="rect">
            <a:avLst/>
          </a:prstGeom>
          <a:noFill/>
        </p:spPr>
        <p:txBody>
          <a:bodyPr wrap="none">
            <a:spAutoFit/>
          </a:bodyPr>
          <a:lstStyle/>
          <a:p>
            <a:r>
              <a:rPr sz="2400" b="1">
                <a:solidFill>
                  <a:srgbClr val="3C4545"/>
                </a:solidFill>
                <a:latin typeface="Segoe UI"/>
              </a:rPr>
              <a:t>Technologies Used And Final Outcome</a:t>
            </a:r>
          </a:p>
        </p:txBody>
      </p:sp>
      <p:sp>
        <p:nvSpPr>
          <p:cNvPr id="3" name="TextBox 2"/>
          <p:cNvSpPr txBox="1"/>
          <p:nvPr/>
        </p:nvSpPr>
        <p:spPr>
          <a:xfrm>
            <a:off x="457200" y="566928"/>
            <a:ext cx="11064240" cy="292608"/>
          </a:xfrm>
          <a:prstGeom prst="rect">
            <a:avLst/>
          </a:prstGeom>
          <a:noFill/>
        </p:spPr>
        <p:txBody>
          <a:bodyPr wrap="none">
            <a:spAutoFit/>
          </a:bodyPr>
          <a:lstStyle/>
          <a:p>
            <a:r>
              <a:rPr sz="1150">
                <a:solidFill>
                  <a:srgbClr val="697778"/>
                </a:solidFill>
                <a:latin typeface="Segoe UI"/>
              </a:rPr>
              <a:t>The project combines agent coordination, trust, and OCI enterprise AI services in one working prototype.</a:t>
            </a:r>
          </a:p>
        </p:txBody>
      </p:sp>
      <p:sp>
        <p:nvSpPr>
          <p:cNvPr id="4" name="Rounded Rectangle 3"/>
          <p:cNvSpPr/>
          <p:nvPr/>
        </p:nvSpPr>
        <p:spPr>
          <a:xfrm>
            <a:off x="411480" y="1005840"/>
            <a:ext cx="5532120" cy="5440680"/>
          </a:xfrm>
          <a:prstGeom prst="roundRect">
            <a:avLst>
              <a:gd name="adj" fmla="val 8000"/>
            </a:avLst>
          </a:prstGeom>
          <a:solidFill>
            <a:srgbClr val="FFFFFF"/>
          </a:solidFill>
          <a:ln w="15240">
            <a:solidFill>
              <a:srgbClr val="C2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051560"/>
            <a:ext cx="5239512" cy="201168"/>
          </a:xfrm>
          <a:prstGeom prst="rect">
            <a:avLst/>
          </a:prstGeom>
          <a:noFill/>
        </p:spPr>
        <p:txBody>
          <a:bodyPr wrap="none">
            <a:spAutoFit/>
          </a:bodyPr>
          <a:lstStyle/>
          <a:p>
            <a:r>
              <a:rPr sz="1400" b="1">
                <a:solidFill>
                  <a:srgbClr val="3C4545"/>
                </a:solidFill>
                <a:latin typeface="Segoe UI"/>
              </a:rPr>
              <a:t>What was used in the application</a:t>
            </a:r>
          </a:p>
        </p:txBody>
      </p:sp>
      <p:sp>
        <p:nvSpPr>
          <p:cNvPr id="6" name="Rounded Rectangle 5"/>
          <p:cNvSpPr/>
          <p:nvPr/>
        </p:nvSpPr>
        <p:spPr>
          <a:xfrm>
            <a:off x="731520" y="1417320"/>
            <a:ext cx="2148840" cy="109728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LangGraph</a:t>
            </a:r>
          </a:p>
          <a:p>
            <a:pPr algn="l"/>
            <a:r>
              <a:rPr sz="1050">
                <a:solidFill>
                  <a:srgbClr val="697778"/>
                </a:solidFill>
                <a:latin typeface="Segoe UI"/>
              </a:rPr>
              <a:t>Used as the orchestration graph to drive the request flow through routing, agent selection, and final response handling.</a:t>
            </a:r>
          </a:p>
        </p:txBody>
      </p:sp>
      <p:sp>
        <p:nvSpPr>
          <p:cNvPr id="7" name="Rectangle 6"/>
          <p:cNvSpPr/>
          <p:nvPr/>
        </p:nvSpPr>
        <p:spPr>
          <a:xfrm>
            <a:off x="731520" y="1417320"/>
            <a:ext cx="73152" cy="1097280"/>
          </a:xfrm>
          <a:prstGeom prst="rect">
            <a:avLst/>
          </a:prstGeom>
          <a:solidFill>
            <a:srgbClr val="C74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063240" y="1417320"/>
            <a:ext cx="2560320" cy="109728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AGNTCY</a:t>
            </a:r>
          </a:p>
          <a:p>
            <a:pPr algn="l"/>
            <a:r>
              <a:rPr sz="1050">
                <a:solidFill>
                  <a:srgbClr val="697778"/>
                </a:solidFill>
                <a:latin typeface="Segoe UI"/>
              </a:rPr>
              <a:t>Used for agent discovery and identity verification before an agent is allowed to run.</a:t>
            </a:r>
          </a:p>
        </p:txBody>
      </p:sp>
      <p:sp>
        <p:nvSpPr>
          <p:cNvPr id="9" name="Rounded Rectangle 8"/>
          <p:cNvSpPr/>
          <p:nvPr/>
        </p:nvSpPr>
        <p:spPr>
          <a:xfrm>
            <a:off x="731520" y="2743200"/>
            <a:ext cx="2148840" cy="109728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A2A</a:t>
            </a:r>
          </a:p>
          <a:p>
            <a:pPr algn="l"/>
            <a:r>
              <a:rPr sz="1050">
                <a:solidFill>
                  <a:srgbClr val="697778"/>
                </a:solidFill>
                <a:latin typeface="Segoe UI"/>
              </a:rPr>
              <a:t>Used as the interaction layer between the application runtime and the individual agents.</a:t>
            </a:r>
          </a:p>
        </p:txBody>
      </p:sp>
      <p:sp>
        <p:nvSpPr>
          <p:cNvPr id="10" name="Rounded Rectangle 9"/>
          <p:cNvSpPr/>
          <p:nvPr/>
        </p:nvSpPr>
        <p:spPr>
          <a:xfrm>
            <a:off x="3063240" y="2743200"/>
            <a:ext cx="2560320" cy="109728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OCI Generative AI</a:t>
            </a:r>
          </a:p>
          <a:p>
            <a:pPr algn="l"/>
            <a:r>
              <a:rPr sz="1050">
                <a:solidFill>
                  <a:srgbClr val="697778"/>
                </a:solidFill>
                <a:latin typeface="Segoe UI"/>
              </a:rPr>
              <a:t>Used for reasoning, document retrieval, tool-based web search, and comparison support through OCI services.</a:t>
            </a:r>
          </a:p>
        </p:txBody>
      </p:sp>
      <p:sp>
        <p:nvSpPr>
          <p:cNvPr id="11" name="Rounded Rectangle 10"/>
          <p:cNvSpPr/>
          <p:nvPr/>
        </p:nvSpPr>
        <p:spPr>
          <a:xfrm>
            <a:off x="731520" y="4069080"/>
            <a:ext cx="4892040" cy="109728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Technical stack in one line</a:t>
            </a:r>
          </a:p>
          <a:p>
            <a:pPr algn="l"/>
            <a:r>
              <a:rPr sz="1050">
                <a:solidFill>
                  <a:srgbClr val="697778"/>
                </a:solidFill>
                <a:latin typeface="Segoe UI"/>
              </a:rPr>
              <a:t>LangGraph handled orchestration, AGNTCY handled discovery and trust, A2A handled agent-to-agent interaction, and OCI services handled reasoning, retrieval, tools, and comparison execution.</a:t>
            </a:r>
          </a:p>
        </p:txBody>
      </p:sp>
      <p:sp>
        <p:nvSpPr>
          <p:cNvPr id="12" name="Rounded Rectangle 11"/>
          <p:cNvSpPr/>
          <p:nvPr/>
        </p:nvSpPr>
        <p:spPr>
          <a:xfrm>
            <a:off x="6172200" y="1005840"/>
            <a:ext cx="5577840" cy="5440680"/>
          </a:xfrm>
          <a:prstGeom prst="roundRect">
            <a:avLst>
              <a:gd name="adj" fmla="val 8000"/>
            </a:avLst>
          </a:prstGeom>
          <a:solidFill>
            <a:srgbClr val="FFFFFF"/>
          </a:solidFill>
          <a:ln w="15240">
            <a:solidFill>
              <a:srgbClr val="C2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18504" y="1051560"/>
            <a:ext cx="5285232" cy="201168"/>
          </a:xfrm>
          <a:prstGeom prst="rect">
            <a:avLst/>
          </a:prstGeom>
          <a:noFill/>
        </p:spPr>
        <p:txBody>
          <a:bodyPr wrap="none">
            <a:spAutoFit/>
          </a:bodyPr>
          <a:lstStyle/>
          <a:p>
            <a:r>
              <a:rPr sz="1400" b="1">
                <a:solidFill>
                  <a:srgbClr val="3C4545"/>
                </a:solidFill>
                <a:latin typeface="Segoe UI"/>
              </a:rPr>
              <a:t>Final outcome</a:t>
            </a:r>
          </a:p>
        </p:txBody>
      </p:sp>
      <p:sp>
        <p:nvSpPr>
          <p:cNvPr id="14" name="Rounded Rectangle 13"/>
          <p:cNvSpPr/>
          <p:nvPr/>
        </p:nvSpPr>
        <p:spPr>
          <a:xfrm>
            <a:off x="6492240" y="1417320"/>
            <a:ext cx="4937760" cy="361188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Current outcome</a:t>
            </a:r>
          </a:p>
          <a:p>
            <a:pPr algn="l"/>
            <a:r>
              <a:rPr sz="1050">
                <a:solidFill>
                  <a:srgbClr val="697778"/>
                </a:solidFill>
                <a:latin typeface="Segoe UI"/>
              </a:rPr>
              <a:t>The final result is a working multi-agent prototype that can process documents, answer questions from stored document content, retrieve live web information, compare documents, discover the right agent through AGNTCY, verify that agent before invocation, and run the request through OCI-backed processing flows. It serves as a practical implementation for learning how enterprise multi-agent systems can be designed and connected.</a:t>
            </a:r>
          </a:p>
        </p:txBody>
      </p:sp>
      <p:sp>
        <p:nvSpPr>
          <p:cNvPr id="15" name="Rectangle 14"/>
          <p:cNvSpPr/>
          <p:nvPr/>
        </p:nvSpPr>
        <p:spPr>
          <a:xfrm>
            <a:off x="6492240" y="1417320"/>
            <a:ext cx="73152" cy="3611880"/>
          </a:xfrm>
          <a:prstGeom prst="rect">
            <a:avLst/>
          </a:prstGeom>
          <a:solidFill>
            <a:srgbClr val="C74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EFED"/>
        </a:solidFill>
        <a:effectLst/>
      </p:bgPr>
    </p:bg>
    <p:spTree>
      <p:nvGrpSpPr>
        <p:cNvPr id="1" name=""/>
        <p:cNvGrpSpPr/>
        <p:nvPr/>
      </p:nvGrpSpPr>
      <p:grpSpPr/>
      <p:sp>
        <p:nvSpPr>
          <p:cNvPr id="2" name="TextBox 1"/>
          <p:cNvSpPr txBox="1"/>
          <p:nvPr/>
        </p:nvSpPr>
        <p:spPr>
          <a:xfrm>
            <a:off x="457200" y="228600"/>
            <a:ext cx="11064240" cy="457200"/>
          </a:xfrm>
          <a:prstGeom prst="rect">
            <a:avLst/>
          </a:prstGeom>
          <a:noFill/>
        </p:spPr>
        <p:txBody>
          <a:bodyPr wrap="none">
            <a:spAutoFit/>
          </a:bodyPr>
          <a:lstStyle/>
          <a:p>
            <a:r>
              <a:rPr sz="2400" b="1">
                <a:solidFill>
                  <a:srgbClr val="3C4545"/>
                </a:solidFill>
                <a:latin typeface="Segoe UI"/>
              </a:rPr>
              <a:t>Possible Next Implementations</a:t>
            </a:r>
          </a:p>
        </p:txBody>
      </p:sp>
      <p:sp>
        <p:nvSpPr>
          <p:cNvPr id="3" name="TextBox 2"/>
          <p:cNvSpPr txBox="1"/>
          <p:nvPr/>
        </p:nvSpPr>
        <p:spPr>
          <a:xfrm>
            <a:off x="457200" y="566928"/>
            <a:ext cx="11064240" cy="292608"/>
          </a:xfrm>
          <a:prstGeom prst="rect">
            <a:avLst/>
          </a:prstGeom>
          <a:noFill/>
        </p:spPr>
        <p:txBody>
          <a:bodyPr wrap="none">
            <a:spAutoFit/>
          </a:bodyPr>
          <a:lstStyle/>
          <a:p>
            <a:r>
              <a:rPr sz="1150">
                <a:solidFill>
                  <a:srgbClr val="697778"/>
                </a:solidFill>
                <a:latin typeface="Segoe UI"/>
              </a:rPr>
              <a:t>The current prototype creates a strong base for extending the application into more focused use cases.</a:t>
            </a:r>
          </a:p>
        </p:txBody>
      </p:sp>
      <p:sp>
        <p:nvSpPr>
          <p:cNvPr id="4" name="Rounded Rectangle 3"/>
          <p:cNvSpPr/>
          <p:nvPr/>
        </p:nvSpPr>
        <p:spPr>
          <a:xfrm>
            <a:off x="411480" y="1005840"/>
            <a:ext cx="11338560" cy="5440680"/>
          </a:xfrm>
          <a:prstGeom prst="roundRect">
            <a:avLst>
              <a:gd name="adj" fmla="val 8000"/>
            </a:avLst>
          </a:prstGeom>
          <a:solidFill>
            <a:srgbClr val="FFFFFF"/>
          </a:solidFill>
          <a:ln w="15240">
            <a:solidFill>
              <a:srgbClr val="C2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051560"/>
            <a:ext cx="11045952" cy="201168"/>
          </a:xfrm>
          <a:prstGeom prst="rect">
            <a:avLst/>
          </a:prstGeom>
          <a:noFill/>
        </p:spPr>
        <p:txBody>
          <a:bodyPr wrap="none">
            <a:spAutoFit/>
          </a:bodyPr>
          <a:lstStyle/>
          <a:p>
            <a:r>
              <a:rPr sz="1400" b="1">
                <a:solidFill>
                  <a:srgbClr val="3C4545"/>
                </a:solidFill>
                <a:latin typeface="Segoe UI"/>
              </a:rPr>
              <a:t>Future extensions</a:t>
            </a:r>
          </a:p>
        </p:txBody>
      </p:sp>
      <p:sp>
        <p:nvSpPr>
          <p:cNvPr id="6" name="Rounded Rectangle 5"/>
          <p:cNvSpPr/>
          <p:nvPr/>
        </p:nvSpPr>
        <p:spPr>
          <a:xfrm>
            <a:off x="731520" y="1463040"/>
            <a:ext cx="2743200" cy="123444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More agent capabilities</a:t>
            </a:r>
          </a:p>
          <a:p>
            <a:pPr algn="l"/>
            <a:r>
              <a:rPr sz="1050">
                <a:solidFill>
                  <a:srgbClr val="697778"/>
                </a:solidFill>
                <a:latin typeface="Segoe UI"/>
              </a:rPr>
              <a:t>Additional agents can be added for tasks such as review, validation, summarization, workflow routing, or domain-specific analysis.</a:t>
            </a:r>
          </a:p>
        </p:txBody>
      </p:sp>
      <p:sp>
        <p:nvSpPr>
          <p:cNvPr id="7" name="Rectangle 6"/>
          <p:cNvSpPr/>
          <p:nvPr/>
        </p:nvSpPr>
        <p:spPr>
          <a:xfrm>
            <a:off x="731520" y="1463040"/>
            <a:ext cx="73152" cy="1234440"/>
          </a:xfrm>
          <a:prstGeom prst="rect">
            <a:avLst/>
          </a:prstGeom>
          <a:solidFill>
            <a:srgbClr val="C74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794760" y="1463040"/>
            <a:ext cx="2743200" cy="123444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Better retrieval usage</a:t>
            </a:r>
          </a:p>
          <a:p>
            <a:pPr algn="l"/>
            <a:r>
              <a:rPr sz="1050">
                <a:solidFill>
                  <a:srgbClr val="697778"/>
                </a:solidFill>
                <a:latin typeface="Segoe UI"/>
              </a:rPr>
              <a:t>The document side can be extended with richer retrieval patterns, better document collections, and more focused document-grounded workflows.</a:t>
            </a:r>
          </a:p>
        </p:txBody>
      </p:sp>
      <p:sp>
        <p:nvSpPr>
          <p:cNvPr id="9" name="Rounded Rectangle 8"/>
          <p:cNvSpPr/>
          <p:nvPr/>
        </p:nvSpPr>
        <p:spPr>
          <a:xfrm>
            <a:off x="6858000" y="1463040"/>
            <a:ext cx="2743200" cy="123444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Business-oriented use cases</a:t>
            </a:r>
          </a:p>
          <a:p>
            <a:pPr algn="l"/>
            <a:r>
              <a:rPr sz="1050">
                <a:solidFill>
                  <a:srgbClr val="697778"/>
                </a:solidFill>
                <a:latin typeface="Segoe UI"/>
              </a:rPr>
              <a:t>The same architecture can later be used for enterprise policy assistants, knowledge assistants, comparison assistants, or internal analyst workflows.</a:t>
            </a:r>
          </a:p>
        </p:txBody>
      </p:sp>
      <p:sp>
        <p:nvSpPr>
          <p:cNvPr id="10" name="Rounded Rectangle 9"/>
          <p:cNvSpPr/>
          <p:nvPr/>
        </p:nvSpPr>
        <p:spPr>
          <a:xfrm>
            <a:off x="731520" y="3154680"/>
            <a:ext cx="2743200" cy="123444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More tools</a:t>
            </a:r>
          </a:p>
          <a:p>
            <a:pPr algn="l"/>
            <a:r>
              <a:rPr sz="1050">
                <a:solidFill>
                  <a:srgbClr val="697778"/>
                </a:solidFill>
                <a:latin typeface="Segoe UI"/>
              </a:rPr>
              <a:t>External tools and MCP-connected services can be expanded so the agents can act on a wider range of tasks.</a:t>
            </a:r>
          </a:p>
        </p:txBody>
      </p:sp>
      <p:sp>
        <p:nvSpPr>
          <p:cNvPr id="11" name="Rounded Rectangle 10"/>
          <p:cNvSpPr/>
          <p:nvPr/>
        </p:nvSpPr>
        <p:spPr>
          <a:xfrm>
            <a:off x="3794760" y="3154680"/>
            <a:ext cx="2743200" cy="123444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Stronger trust controls</a:t>
            </a:r>
          </a:p>
          <a:p>
            <a:pPr algn="l"/>
            <a:r>
              <a:rPr sz="1050">
                <a:solidFill>
                  <a:srgbClr val="697778"/>
                </a:solidFill>
                <a:latin typeface="Segoe UI"/>
              </a:rPr>
              <a:t>Discovery and trust checks can be extended further as the number of agents and tool paths grows.</a:t>
            </a:r>
          </a:p>
        </p:txBody>
      </p:sp>
      <p:sp>
        <p:nvSpPr>
          <p:cNvPr id="12" name="Rounded Rectangle 11"/>
          <p:cNvSpPr/>
          <p:nvPr/>
        </p:nvSpPr>
        <p:spPr>
          <a:xfrm>
            <a:off x="6858000" y="3154680"/>
            <a:ext cx="2743200" cy="1234440"/>
          </a:xfrm>
          <a:prstGeom prst="roundRect">
            <a:avLst>
              <a:gd name="adj" fmla="val 8000"/>
            </a:avLst>
          </a:prstGeom>
          <a:solidFill>
            <a:srgbClr val="F8F9FA"/>
          </a:solidFill>
          <a:ln w="13970">
            <a:solidFill>
              <a:srgbClr val="C2D4D4"/>
            </a:solidFill>
          </a:ln>
        </p:spPr>
        <p:style>
          <a:lnRef idx="1">
            <a:schemeClr val="accent1"/>
          </a:lnRef>
          <a:fillRef idx="3">
            <a:schemeClr val="accent1"/>
          </a:fillRef>
          <a:effectRef idx="2">
            <a:schemeClr val="accent1"/>
          </a:effectRef>
          <a:fontRef idx="minor">
            <a:schemeClr val="lt1"/>
          </a:fontRef>
        </p:style>
        <p:txBody>
          <a:bodyPr rtlCol="0" anchor="t" wrap="square" lIns="127000" rIns="101600" tIns="76200" bIns="76200"/>
          <a:lstStyle/>
          <a:p>
            <a:pPr algn="l"/>
            <a:r>
              <a:rPr sz="1350" b="1">
                <a:solidFill>
                  <a:srgbClr val="3C4545"/>
                </a:solidFill>
                <a:latin typeface="Segoe UI"/>
              </a:rPr>
              <a:t>Problem-specific productization</a:t>
            </a:r>
          </a:p>
          <a:p>
            <a:pPr algn="l"/>
            <a:r>
              <a:rPr sz="1050">
                <a:solidFill>
                  <a:srgbClr val="697778"/>
                </a:solidFill>
                <a:latin typeface="Segoe UI"/>
              </a:rPr>
              <a:t>This prototype can later be shaped into a more defined solution once a clear business problem statement is selected.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EFED"/>
        </a:solidFill>
        <a:effectLst/>
      </p:bgPr>
    </p:bg>
    <p:spTree>
      <p:nvGrpSpPr>
        <p:cNvPr id="1" name=""/>
        <p:cNvGrpSpPr/>
        <p:nvPr/>
      </p:nvGrpSpPr>
      <p:grpSpPr/>
      <p:sp>
        <p:nvSpPr>
          <p:cNvPr id="2" name="Rounded Rectangle 1"/>
          <p:cNvSpPr/>
          <p:nvPr/>
        </p:nvSpPr>
        <p:spPr>
          <a:xfrm>
            <a:off x="1234440" y="1371600"/>
            <a:ext cx="9738360" cy="3840480"/>
          </a:xfrm>
          <a:prstGeom prst="roundRect">
            <a:avLst>
              <a:gd name="adj" fmla="val 8000"/>
            </a:avLst>
          </a:prstGeom>
          <a:solidFill>
            <a:srgbClr val="FFFFFF"/>
          </a:solidFill>
          <a:ln w="15240">
            <a:solidFill>
              <a:srgbClr val="C2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80744" y="1417320"/>
            <a:ext cx="9445752" cy="201168"/>
          </a:xfrm>
          <a:prstGeom prst="rect">
            <a:avLst/>
          </a:prstGeom>
          <a:noFill/>
        </p:spPr>
        <p:txBody>
          <a:bodyPr wrap="none">
            <a:spAutoFit/>
          </a:bodyPr>
          <a:lstStyle/>
          <a:p>
            <a:r>
              <a:rPr sz="1400" b="1">
                <a:solidFill>
                  <a:srgbClr val="3C4545"/>
                </a:solidFill>
                <a:latin typeface="Segoe UI"/>
              </a:rPr>
              <a:t/>
            </a:r>
          </a:p>
        </p:txBody>
      </p:sp>
      <p:sp>
        <p:nvSpPr>
          <p:cNvPr id="4" name="TextBox 3"/>
          <p:cNvSpPr txBox="1"/>
          <p:nvPr/>
        </p:nvSpPr>
        <p:spPr>
          <a:xfrm>
            <a:off x="2011680" y="2011680"/>
            <a:ext cx="8138160" cy="914400"/>
          </a:xfrm>
          <a:prstGeom prst="rect">
            <a:avLst/>
          </a:prstGeom>
          <a:noFill/>
        </p:spPr>
        <p:txBody>
          <a:bodyPr wrap="none">
            <a:spAutoFit/>
          </a:bodyPr>
          <a:lstStyle/>
          <a:p>
            <a:pPr algn="ctr"/>
            <a:r>
              <a:rPr sz="2800" b="1">
                <a:solidFill>
                  <a:srgbClr val="3C4545"/>
                </a:solidFill>
                <a:latin typeface="Segoe UI"/>
              </a:rPr>
              <a:t>Thank You</a:t>
            </a:r>
          </a:p>
        </p:txBody>
      </p:sp>
      <p:sp>
        <p:nvSpPr>
          <p:cNvPr id="5" name="TextBox 4"/>
          <p:cNvSpPr txBox="1"/>
          <p:nvPr/>
        </p:nvSpPr>
        <p:spPr>
          <a:xfrm>
            <a:off x="1874519" y="2926080"/>
            <a:ext cx="8412480" cy="914400"/>
          </a:xfrm>
          <a:prstGeom prst="rect">
            <a:avLst/>
          </a:prstGeom>
          <a:noFill/>
        </p:spPr>
        <p:txBody>
          <a:bodyPr wrap="none">
            <a:spAutoFit/>
          </a:bodyPr>
          <a:lstStyle/>
          <a:p>
            <a:pPr algn="ctr"/>
            <a:r>
              <a:rPr sz="1500">
                <a:solidFill>
                  <a:srgbClr val="697778"/>
                </a:solidFill>
                <a:latin typeface="Segoe UI"/>
              </a:rPr>
              <a:t>Questions and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